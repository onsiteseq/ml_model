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76" r:id="rId3"/>
    <p:sldId id="280" r:id="rId4"/>
    <p:sldId id="299" r:id="rId5"/>
    <p:sldId id="298" r:id="rId6"/>
    <p:sldId id="300" r:id="rId7"/>
    <p:sldId id="301" r:id="rId8"/>
    <p:sldId id="297" r:id="rId9"/>
    <p:sldId id="310" r:id="rId10"/>
    <p:sldId id="311" r:id="rId11"/>
    <p:sldId id="304" r:id="rId12"/>
    <p:sldId id="305" r:id="rId13"/>
    <p:sldId id="302" r:id="rId14"/>
    <p:sldId id="309" r:id="rId15"/>
    <p:sldId id="296" r:id="rId16"/>
    <p:sldId id="303" r:id="rId17"/>
    <p:sldId id="308" r:id="rId18"/>
    <p:sldId id="307" r:id="rId19"/>
    <p:sldId id="306" r:id="rId20"/>
    <p:sldId id="278" r:id="rId2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92" autoAdjust="0"/>
    <p:restoredTop sz="94660"/>
  </p:normalViewPr>
  <p:slideViewPr>
    <p:cSldViewPr>
      <p:cViewPr varScale="1">
        <p:scale>
          <a:sx n="124" d="100"/>
          <a:sy n="124" d="100"/>
        </p:scale>
        <p:origin x="91" y="12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042B7E-933C-49D4-8E10-C35D5BEAD511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501C6-D515-43F0-B0D0-B6D7B44A98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816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E501C6-D515-43F0-B0D0-B6D7B44A987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7807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04CAB-C35F-00BE-A71E-4F6994B7B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2996B3-BD75-3673-6666-16CEF6785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E8F86-8B22-ABED-4C99-0B75DEE40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E9A75-3283-E72C-9DBD-7FDBBD06C2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E501C6-D515-43F0-B0D0-B6D7B44A987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546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15395-9154-436B-5D28-1BE1BD646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A79CF-1BF1-FA37-8F7E-F8C1AE42A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4362AD-E078-C78B-DC93-AD94981D9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D84DA-3374-E10D-3F5E-E4A6A165BC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E501C6-D515-43F0-B0D0-B6D7B44A987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747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35A9F-BC53-0045-2FCA-01A248D1F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A8BEC-558D-2FF1-2546-5A2259304A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8E75A8-CAAC-CE13-6A0C-620518161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2EFA3-2251-8BF7-C30F-AB59F316AF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E501C6-D515-43F0-B0D0-B6D7B44A987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9245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B79ED-5ECE-9B8D-A55A-693ABC0A7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90354D-8D11-B5CF-2B5B-379E5A3C8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E5B864-3463-C247-11B5-3E51CDF11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B64F5-C2B1-4DAA-93FD-948729368B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E501C6-D515-43F0-B0D0-B6D7B44A987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0047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87931" y="2075601"/>
            <a:ext cx="2505075" cy="497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9200" y="201351"/>
            <a:ext cx="7789545" cy="604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9954" y="1021763"/>
            <a:ext cx="8604090" cy="302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onsiteseq/ML_model/blob/main/inference_v5.py" TargetMode="Externa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onsiteseq/ML_model/blob/main/train_full_v5.py" TargetMode="External"/><Relationship Id="rId5" Type="http://schemas.openxmlformats.org/officeDocument/2006/relationships/hyperlink" Target="https://github.com/onsiteseq/ML_model/blob/main/train_full.py" TargetMode="External"/><Relationship Id="rId4" Type="http://schemas.openxmlformats.org/officeDocument/2006/relationships/hyperlink" Target="https://github.com/onsiteseq/ML_mode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09600" y="590550"/>
            <a:ext cx="4369625" cy="220374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 marR="5080" algn="ctr">
              <a:lnSpc>
                <a:spcPts val="4320"/>
              </a:lnSpc>
              <a:spcBef>
                <a:spcPts val="645"/>
              </a:spcBef>
            </a:pPr>
            <a:r>
              <a:rPr lang="ru-RU" sz="2000" b="1" spc="-150" dirty="0">
                <a:latin typeface="Verdana" panose="020B0604030504040204" pitchFamily="34" charset="0"/>
                <a:ea typeface="Verdana" panose="020B0604030504040204" pitchFamily="34" charset="0"/>
              </a:rPr>
              <a:t>Разработка алгоритма и сенсорной системы для бесконтактной оценки артериального давления</a:t>
            </a:r>
            <a:endParaRPr spc="-10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77FD75D-9D4D-B36E-D234-14507BA135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25670"/>
              </p:ext>
            </p:extLst>
          </p:nvPr>
        </p:nvGraphicFramePr>
        <p:xfrm>
          <a:off x="6215063" y="57150"/>
          <a:ext cx="2928937" cy="742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724603" imgH="945022" progId="">
                  <p:embed/>
                </p:oleObj>
              </mc:Choice>
              <mc:Fallback>
                <p:oleObj r:id="rId3" imgW="3724603" imgH="945022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15063" y="57150"/>
                        <a:ext cx="2928937" cy="7428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535781" y="-32385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2100" y="728548"/>
            <a:ext cx="450850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200" b="1" u="heavy" dirty="0">
                <a:uFill>
                  <a:solidFill>
                    <a:srgbClr val="000000"/>
                  </a:solidFill>
                </a:uFill>
              </a:rPr>
              <a:t>Команда</a:t>
            </a:r>
            <a:r>
              <a:rPr lang="en-US" sz="2200" b="1" u="heavy" dirty="0">
                <a:uFill>
                  <a:solidFill>
                    <a:srgbClr val="000000"/>
                  </a:solidFill>
                </a:uFill>
              </a:rPr>
              <a:t> 6</a:t>
            </a:r>
            <a:endParaRPr sz="2200" dirty="0">
              <a:latin typeface="Verdana"/>
              <a:cs typeface="Verdan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2724150"/>
            <a:ext cx="12192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800" b="0" i="0" u="none" strike="noStrike" cap="none" dirty="0">
                <a:solidFill>
                  <a:srgbClr val="182C6B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Горбенко Роман</a:t>
            </a:r>
            <a:endParaRPr lang="ru-RU" sz="800" b="0" i="0" u="none" strike="noStrike" cap="none" dirty="0">
              <a:solidFill>
                <a:srgbClr val="182C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81" y="1162714"/>
            <a:ext cx="1519238" cy="152320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438399" y="3520495"/>
            <a:ext cx="12192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800" b="0" i="0" u="none" strike="noStrike" cap="none" dirty="0">
                <a:solidFill>
                  <a:srgbClr val="182C6B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Кублашвилли Татьяна </a:t>
            </a:r>
            <a:endParaRPr lang="ru-RU" sz="800" b="0" i="0" u="none" strike="noStrike" cap="none" dirty="0">
              <a:solidFill>
                <a:srgbClr val="182C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68061" y="2685919"/>
            <a:ext cx="12192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800" dirty="0">
                <a:solidFill>
                  <a:srgbClr val="182C6B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Мурадян Яна </a:t>
            </a:r>
            <a:endParaRPr lang="ru-RU" sz="800" b="0" i="0" u="none" strike="noStrike" cap="none" dirty="0">
              <a:solidFill>
                <a:srgbClr val="182C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781800" y="3563190"/>
            <a:ext cx="12192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800" dirty="0">
                <a:solidFill>
                  <a:srgbClr val="182C6B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Горбунова Елена</a:t>
            </a:r>
            <a:endParaRPr lang="ru-RU" sz="800" b="0" i="0" u="none" strike="noStrike" cap="none" dirty="0">
              <a:solidFill>
                <a:srgbClr val="182C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A person in a blue dress&#10;&#10;AI-generated content may be incorrect.">
            <a:extLst>
              <a:ext uri="{FF2B5EF4-FFF2-40B4-BE49-F238E27FC236}">
                <a16:creationId xmlns:a16="http://schemas.microsoft.com/office/drawing/2014/main" id="{60518DCE-BC25-36A5-AFB6-81FF54094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9076" y="1623004"/>
            <a:ext cx="1717847" cy="1897491"/>
          </a:xfrm>
          <a:prstGeom prst="rect">
            <a:avLst/>
          </a:prstGeom>
        </p:spPr>
      </p:pic>
      <p:pic>
        <p:nvPicPr>
          <p:cNvPr id="12" name="Picture 11" descr="A person standing on a railing with a city in the background&#10;&#10;AI-generated content may be incorrect.">
            <a:extLst>
              <a:ext uri="{FF2B5EF4-FFF2-40B4-BE49-F238E27FC236}">
                <a16:creationId xmlns:a16="http://schemas.microsoft.com/office/drawing/2014/main" id="{5E662C15-E182-3206-09E3-077C2368DC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1653717"/>
            <a:ext cx="2049219" cy="1897288"/>
          </a:xfrm>
          <a:prstGeom prst="rect">
            <a:avLst/>
          </a:prstGeom>
        </p:spPr>
      </p:pic>
      <p:pic>
        <p:nvPicPr>
          <p:cNvPr id="15" name="Picture 14" descr="A person taking a selfie&#10;&#10;AI-generated content may be incorrect.">
            <a:extLst>
              <a:ext uri="{FF2B5EF4-FFF2-40B4-BE49-F238E27FC236}">
                <a16:creationId xmlns:a16="http://schemas.microsoft.com/office/drawing/2014/main" id="{47ACBC16-1573-6666-CA5A-CB18ECE944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550" y="598530"/>
            <a:ext cx="1938035" cy="20489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895350"/>
            <a:ext cx="80137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600" b="1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Задача.</a:t>
            </a:r>
            <a:r>
              <a:rPr lang="ru-RU" sz="1600" b="1" u="sng" dirty="0"/>
              <a:t> Бесконтактный мониторинг артериального давления</a:t>
            </a:r>
            <a:endParaRPr sz="1600" b="1" u="sng" dirty="0">
              <a:latin typeface="Verdana"/>
              <a:cs typeface="Verdan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EA6627-3E79-9A14-6154-A8D21C4BED96}"/>
              </a:ext>
            </a:extLst>
          </p:cNvPr>
          <p:cNvSpPr txBox="1"/>
          <p:nvPr/>
        </p:nvSpPr>
        <p:spPr>
          <a:xfrm>
            <a:off x="685800" y="1276350"/>
            <a:ext cx="642551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Контекст и технология</a:t>
            </a:r>
          </a:p>
          <a:p>
            <a:endParaRPr lang="ru-RU" b="1" dirty="0"/>
          </a:p>
          <a:p>
            <a:r>
              <a:rPr lang="ru-RU" b="1" dirty="0"/>
              <a:t>Технология rPPG:</a:t>
            </a:r>
            <a:r>
              <a:rPr lang="ru-RU" dirty="0"/>
              <a:t> Использование удаленной фотоплетизмографии (remote Photoplethysmography) для регистрации микроскопических изменений цвета кожи лица, вызванных пульсацией кровотока.</a:t>
            </a:r>
          </a:p>
          <a:p>
            <a:r>
              <a:rPr lang="ru-RU" b="1" dirty="0"/>
              <a:t>Физиологическая связь:</a:t>
            </a:r>
            <a:r>
              <a:rPr lang="ru-RU" dirty="0"/>
              <a:t> Оценка артериального давления (АД) на основе анализа динамики и морфологии пульсовой волны, напрямую коррелирующей с состоянием сердечно-сосудистой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957325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B2CDDEF-4079-3A73-D96F-5DD5B0A50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869B7CFE-F21A-C26D-F56F-CD88ECE06FB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67CB90D9-469D-0CDD-4573-5BE11D4C2B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895350"/>
            <a:ext cx="80137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600" b="1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Задача.</a:t>
            </a:r>
            <a:r>
              <a:rPr lang="ru-RU" sz="1600" b="1" u="sng" dirty="0"/>
              <a:t> Бесконтактный мониторинг артериального давления</a:t>
            </a:r>
            <a:endParaRPr sz="1600" b="1" u="sng" dirty="0">
              <a:latin typeface="Verdana"/>
              <a:cs typeface="Verdan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F2C862-A258-098F-A4D6-F5B2B4EA4C48}"/>
              </a:ext>
            </a:extLst>
          </p:cNvPr>
          <p:cNvSpPr txBox="1"/>
          <p:nvPr/>
        </p:nvSpPr>
        <p:spPr>
          <a:xfrm>
            <a:off x="685800" y="1276350"/>
            <a:ext cx="642551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Объект исследования и инструменты</a:t>
            </a:r>
          </a:p>
          <a:p>
            <a:endParaRPr lang="ru-RU" b="1" dirty="0"/>
          </a:p>
          <a:p>
            <a:r>
              <a:rPr lang="ru-RU" b="1" dirty="0"/>
              <a:t>Датасет:</a:t>
            </a:r>
            <a:r>
              <a:rPr lang="ru-RU" dirty="0"/>
              <a:t> Работа с набором данных </a:t>
            </a:r>
            <a:r>
              <a:rPr lang="ru-RU" b="1" dirty="0"/>
              <a:t>MCD-rPPG</a:t>
            </a:r>
            <a:r>
              <a:rPr lang="ru-RU" dirty="0"/>
              <a:t>, включающим видеопоследовательности и верифицированные медицинские показатели более чем </a:t>
            </a:r>
            <a:r>
              <a:rPr lang="ru-RU" b="1" dirty="0"/>
              <a:t>600 пациентов</a:t>
            </a:r>
            <a:r>
              <a:rPr lang="ru-RU" dirty="0"/>
              <a:t>.</a:t>
            </a:r>
          </a:p>
          <a:p>
            <a:r>
              <a:rPr lang="ru-RU" b="1" dirty="0"/>
              <a:t>ML-модель:</a:t>
            </a:r>
            <a:r>
              <a:rPr lang="ru-RU" dirty="0"/>
              <a:t> Разработка прототипа алгоритма, способного извлекать физиологические сигналы и предсказывать АД (SBP/DBP) с точностью, </a:t>
            </a:r>
            <a:r>
              <a:rPr lang="ru-RU" b="1" dirty="0"/>
              <a:t>превосходящей показатели бейзлайна</a:t>
            </a:r>
            <a:r>
              <a:rPr lang="ru-RU" dirty="0"/>
              <a:t> SCNN_1roi.</a:t>
            </a:r>
          </a:p>
        </p:txBody>
      </p:sp>
    </p:spTree>
    <p:extLst>
      <p:ext uri="{BB962C8B-B14F-4D97-AF65-F5344CB8AC3E}">
        <p14:creationId xmlns:p14="http://schemas.microsoft.com/office/powerpoint/2010/main" val="2802030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54E7EB8-DB7F-E340-2AB8-1E402B135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1EE49622-83E0-48A6-3ABA-765C202E6AD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58181108-EFFD-1255-60A1-86950BD430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2100" y="728548"/>
            <a:ext cx="450850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200" b="1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Термины и определения</a:t>
            </a:r>
            <a:endParaRPr sz="2200" dirty="0">
              <a:latin typeface="Verdana"/>
              <a:cs typeface="Verdan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02CF5-0A6E-92F4-5211-6CBD5EEE5C23}"/>
              </a:ext>
            </a:extLst>
          </p:cNvPr>
          <p:cNvSpPr txBox="1"/>
          <p:nvPr/>
        </p:nvSpPr>
        <p:spPr>
          <a:xfrm>
            <a:off x="762000" y="1276350"/>
            <a:ext cx="7010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Медицинские и физиологические параметры</a:t>
            </a:r>
          </a:p>
          <a:p>
            <a:pPr>
              <a:buNone/>
            </a:pPr>
            <a:endParaRPr lang="ru-RU" b="1" dirty="0"/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SBP (Systolic Blood Pressure):</a:t>
            </a:r>
            <a:r>
              <a:rPr lang="ru-RU" dirty="0"/>
              <a:t> Систолическое («верхнее») артериальное давление; максимальное давление в артериях в момент сокращения сердца.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DBP (Diastolic Blood Pressure):</a:t>
            </a:r>
            <a:r>
              <a:rPr lang="ru-RU" dirty="0"/>
              <a:t> Диастолическое («нижнее») артериальное давление; минимальное давление в артериях в момент расслабления сердечной мышцы.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Пульсовая волна (Pulse Wave):</a:t>
            </a:r>
            <a:r>
              <a:rPr lang="ru-RU" dirty="0"/>
              <a:t> Волна давления, распространяющаяся по артериальному дереву; её морфология используется для оценки жесткости сосудов и АД.</a:t>
            </a:r>
          </a:p>
        </p:txBody>
      </p:sp>
    </p:spTree>
    <p:extLst>
      <p:ext uri="{BB962C8B-B14F-4D97-AF65-F5344CB8AC3E}">
        <p14:creationId xmlns:p14="http://schemas.microsoft.com/office/powerpoint/2010/main" val="3106682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0A69DFF-F4CB-E586-E757-2723A2C9C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166BFF04-5665-1D59-43AA-D6FD742457F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7303FC64-DC03-048D-0131-E6BDBF2C62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2100" y="728548"/>
            <a:ext cx="450850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200" b="1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Термины и определения</a:t>
            </a:r>
            <a:endParaRPr sz="2200" dirty="0">
              <a:latin typeface="Verdana"/>
              <a:cs typeface="Verdan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00E241-047D-A6EE-EFB4-8A2384B75E9A}"/>
              </a:ext>
            </a:extLst>
          </p:cNvPr>
          <p:cNvSpPr txBox="1"/>
          <p:nvPr/>
        </p:nvSpPr>
        <p:spPr>
          <a:xfrm>
            <a:off x="762000" y="1079926"/>
            <a:ext cx="7010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Технология и видеоаналитика</a:t>
            </a:r>
          </a:p>
          <a:p>
            <a:endParaRPr lang="ru-RU" b="1" dirty="0"/>
          </a:p>
          <a:p>
            <a:r>
              <a:rPr lang="ru-RU" b="1" dirty="0"/>
              <a:t>rPPG (remote Photoplethysmography):</a:t>
            </a:r>
            <a:r>
              <a:rPr lang="ru-RU" dirty="0"/>
              <a:t> Бесконтактный метод регистрации пульса и других показателей путем анализа изменений поглощения света кожей через обычную видеокамеру.</a:t>
            </a:r>
          </a:p>
          <a:p>
            <a:r>
              <a:rPr lang="ru-RU" b="1" dirty="0"/>
              <a:t>ROI (Region of Interest):</a:t>
            </a:r>
            <a:r>
              <a:rPr lang="ru-RU" dirty="0"/>
              <a:t> Область интереса; сегментированные участки лица (лоб, щеки), из которых извлекается полезный физиологический сигнал.</a:t>
            </a:r>
          </a:p>
          <a:p>
            <a:r>
              <a:rPr lang="ru-RU" b="1" dirty="0"/>
              <a:t>Bandpass Filtering:</a:t>
            </a:r>
            <a:r>
              <a:rPr lang="ru-RU" dirty="0"/>
              <a:t> Полосовая фильтрация; процесс удаления частот вне диапазона человеческого пульса (обычно 0.7–4.0 Гц) для очистки сигнала от шумов.</a:t>
            </a:r>
          </a:p>
        </p:txBody>
      </p:sp>
    </p:spTree>
    <p:extLst>
      <p:ext uri="{BB962C8B-B14F-4D97-AF65-F5344CB8AC3E}">
        <p14:creationId xmlns:p14="http://schemas.microsoft.com/office/powerpoint/2010/main" val="1127206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CC81E44-13A8-A834-6795-C2FA394FC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67B5F038-BC09-143D-3DE5-D06706250B1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9BB074AC-D5D4-1C20-1728-02AE791C51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2100" y="728548"/>
            <a:ext cx="450850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200" b="1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Термины и определения</a:t>
            </a:r>
            <a:endParaRPr sz="2200" dirty="0">
              <a:latin typeface="Verdana"/>
              <a:cs typeface="Verdan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905450-6772-3303-BFB9-7E43990249D2}"/>
              </a:ext>
            </a:extLst>
          </p:cNvPr>
          <p:cNvSpPr txBox="1"/>
          <p:nvPr/>
        </p:nvSpPr>
        <p:spPr>
          <a:xfrm>
            <a:off x="762000" y="1079926"/>
            <a:ext cx="7010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Машинное обучение и оценка</a:t>
            </a:r>
          </a:p>
          <a:p>
            <a:endParaRPr lang="ru-RU" b="1" dirty="0"/>
          </a:p>
          <a:p>
            <a:r>
              <a:rPr lang="ru-RU" b="1" dirty="0"/>
              <a:t>MAE (Mean Absolute Error):</a:t>
            </a:r>
            <a:r>
              <a:rPr lang="ru-RU" dirty="0"/>
              <a:t> Средняя абсолютная ошибка; основная метрика проекта, показывающая среднее отклонение предсказанного давления от реального в мм рт. ст..</a:t>
            </a:r>
          </a:p>
          <a:p>
            <a:r>
              <a:rPr lang="ru-RU" b="1" dirty="0"/>
              <a:t>Бейзлайн (Baseline):</a:t>
            </a:r>
            <a:r>
              <a:rPr lang="ru-RU" dirty="0"/>
              <a:t> Исходная модель SCNN_1roi, предоставленная заказчиком в качестве точки отсчета для сравнения результатов.</a:t>
            </a:r>
          </a:p>
          <a:p>
            <a:r>
              <a:rPr lang="ru-RU" b="1" dirty="0"/>
              <a:t>SNR (Signal-to-Noise Ratio):</a:t>
            </a:r>
            <a:r>
              <a:rPr lang="ru-RU" dirty="0"/>
              <a:t> Отношение сигнал/шум; показатель качества извлеченного rPPG-сигнала относительно помех от движения и освещения.</a:t>
            </a:r>
          </a:p>
        </p:txBody>
      </p:sp>
    </p:spTree>
    <p:extLst>
      <p:ext uri="{BB962C8B-B14F-4D97-AF65-F5344CB8AC3E}">
        <p14:creationId xmlns:p14="http://schemas.microsoft.com/office/powerpoint/2010/main" val="1527706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16B3544-123A-824A-985A-DC3A624EE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FAD00FBC-2697-535E-BE9B-A560626EF71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8D1E2BB9-FCD3-A1FD-6448-7F613BEFA7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2100" y="728548"/>
            <a:ext cx="450850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200" b="1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Архитектура</a:t>
            </a:r>
            <a:endParaRPr sz="2200" dirty="0">
              <a:latin typeface="Verdana"/>
              <a:cs typeface="Verdana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96E0B6-DFA4-6658-F28E-8A9A086C3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731" y="2190146"/>
            <a:ext cx="2971800" cy="11196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135A39-0D78-41BC-7C0D-BE7DEAD15EDA}"/>
              </a:ext>
            </a:extLst>
          </p:cNvPr>
          <p:cNvSpPr txBox="1"/>
          <p:nvPr/>
        </p:nvSpPr>
        <p:spPr>
          <a:xfrm>
            <a:off x="621138" y="1180325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Вычислительная инфраструктура</a:t>
            </a:r>
          </a:p>
          <a:p>
            <a:pPr>
              <a:buNone/>
            </a:pPr>
            <a:r>
              <a:rPr lang="ru-RU" dirty="0"/>
              <a:t>Для обучения и инференса была развернута виртуальная машина в </a:t>
            </a:r>
            <a:r>
              <a:rPr lang="ru-RU" b="1" dirty="0"/>
              <a:t>Yandex Cloud</a:t>
            </a:r>
            <a:r>
              <a:rPr lang="ru-RU" dirty="0"/>
              <a:t> со следующими характеристиками: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ОС:</a:t>
            </a:r>
            <a:r>
              <a:rPr lang="ru-RU" dirty="0"/>
              <a:t> Ubuntu 2</a:t>
            </a:r>
            <a:r>
              <a:rPr lang="en-US" dirty="0"/>
              <a:t>4</a:t>
            </a:r>
            <a:r>
              <a:rPr lang="ru-RU" dirty="0"/>
              <a:t>.04 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GPU:</a:t>
            </a:r>
            <a:r>
              <a:rPr lang="ru-RU" dirty="0"/>
              <a:t> 1x </a:t>
            </a:r>
            <a:r>
              <a:rPr lang="ru-RU" b="1" dirty="0"/>
              <a:t>NVIDIA Tesla V100</a:t>
            </a:r>
            <a:r>
              <a:rPr lang="ru-RU" dirty="0"/>
              <a:t> (16 ГБ HBM2) — обеспечивает высокую скорость параллельных вычислений для 1D/2D сверток.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CPU:</a:t>
            </a:r>
            <a:r>
              <a:rPr lang="ru-RU" dirty="0"/>
              <a:t> Intel Broadwell (высокая пропускная способность для декодирования видеопотока).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Стек:</a:t>
            </a:r>
            <a:r>
              <a:rPr lang="ru-RU" dirty="0"/>
              <a:t> PyTorch, CUDA 11.8+, MediaPipe.</a:t>
            </a:r>
          </a:p>
        </p:txBody>
      </p:sp>
    </p:spTree>
    <p:extLst>
      <p:ext uri="{BB962C8B-B14F-4D97-AF65-F5344CB8AC3E}">
        <p14:creationId xmlns:p14="http://schemas.microsoft.com/office/powerpoint/2010/main" val="4181635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1BB445F-E9D7-AD42-4931-2ADDECCA6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701F4520-B6F9-1242-451B-5516262CC86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E0DF3964-FAF0-FA5F-908F-8267634D87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2100" y="728548"/>
            <a:ext cx="450850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200" b="1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Архитектура</a:t>
            </a:r>
            <a:endParaRPr sz="2200" dirty="0">
              <a:latin typeface="Verdana"/>
              <a:cs typeface="Verdan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7F4231-E757-CE6C-8945-C84179680051}"/>
              </a:ext>
            </a:extLst>
          </p:cNvPr>
          <p:cNvSpPr txBox="1"/>
          <p:nvPr/>
        </p:nvSpPr>
        <p:spPr>
          <a:xfrm>
            <a:off x="621138" y="11803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E7E6DD-E8A4-2D19-B04A-C9BC830EAED0}"/>
              </a:ext>
            </a:extLst>
          </p:cNvPr>
          <p:cNvSpPr txBox="1"/>
          <p:nvPr/>
        </p:nvSpPr>
        <p:spPr>
          <a:xfrm>
            <a:off x="735438" y="1123950"/>
            <a:ext cx="62368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ImprovedRPPGNetV</a:t>
            </a:r>
            <a:r>
              <a:rPr lang="en-US" b="1" dirty="0"/>
              <a:t>5</a:t>
            </a:r>
            <a:r>
              <a:rPr lang="ru-RU" dirty="0"/>
              <a:t>.</a:t>
            </a:r>
          </a:p>
          <a:p>
            <a:pPr>
              <a:buNone/>
            </a:pPr>
            <a:r>
              <a:rPr lang="ru-RU" dirty="0"/>
              <a:t>Это глубокая сверточная нейронная сеть, оптимизированная для работы с сигналами дистанционной фотоплетизмографии (rPPG) и предсказания артериального давления.</a:t>
            </a:r>
          </a:p>
          <a:p>
            <a:pPr>
              <a:buNone/>
            </a:pPr>
            <a:r>
              <a:rPr lang="ru-RU" b="1" dirty="0"/>
              <a:t>Основные характеристики вашей модели: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Архитектура</a:t>
            </a:r>
            <a:r>
              <a:rPr lang="ru-RU" dirty="0"/>
              <a:t>: Модель состоит из трех блоков </a:t>
            </a:r>
            <a:r>
              <a:rPr lang="ru-RU" b="1" dirty="0"/>
              <a:t>ResBlock</a:t>
            </a:r>
            <a:r>
              <a:rPr lang="ru-RU" dirty="0"/>
              <a:t> с увеличенным количеством каналов (до </a:t>
            </a:r>
            <a:r>
              <a:rPr lang="ru-RU" b="1" dirty="0"/>
              <a:t>256</a:t>
            </a:r>
            <a:r>
              <a:rPr lang="ru-RU" dirty="0"/>
              <a:t>) и интегрированными блоками внимания </a:t>
            </a:r>
            <a:r>
              <a:rPr lang="ru-RU" b="1" dirty="0"/>
              <a:t>SEBlock</a:t>
            </a:r>
            <a:r>
              <a:rPr lang="ru-RU" dirty="0"/>
              <a:t> (Squeeze-and-Excitation).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6736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848BCE7-AB8F-A7C1-5C2C-FBF8B26E9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1F249EF6-85F7-30E5-92CA-AC2E1F4CF08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D8001631-D42A-0326-E4B7-01F24AE030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2100" y="728548"/>
            <a:ext cx="450850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200" b="1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Архитектура</a:t>
            </a:r>
            <a:endParaRPr sz="2200" dirty="0">
              <a:latin typeface="Verdana"/>
              <a:cs typeface="Verdan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6E4B4F-BEF2-AAAC-E724-38573F496371}"/>
              </a:ext>
            </a:extLst>
          </p:cNvPr>
          <p:cNvSpPr txBox="1"/>
          <p:nvPr/>
        </p:nvSpPr>
        <p:spPr>
          <a:xfrm>
            <a:off x="621138" y="11803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8D3602-63FA-1483-6377-F1E9DE074DB4}"/>
              </a:ext>
            </a:extLst>
          </p:cNvPr>
          <p:cNvSpPr txBox="1"/>
          <p:nvPr/>
        </p:nvSpPr>
        <p:spPr>
          <a:xfrm>
            <a:off x="685800" y="1298821"/>
            <a:ext cx="62368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Входное окно</a:t>
            </a:r>
            <a:r>
              <a:rPr lang="ru-RU" dirty="0"/>
              <a:t>: Модель анализирует фрагменты сигнала длительностью </a:t>
            </a:r>
            <a:r>
              <a:rPr lang="ru-RU" b="1" dirty="0"/>
              <a:t>600 кадров</a:t>
            </a:r>
            <a:r>
              <a:rPr lang="ru-RU" dirty="0"/>
              <a:t> (около 20 секунд), что вдвое больше стандартного подхода и позволяет точнее улавливать вариабельность пульсовой волны.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Регуляризация</a:t>
            </a:r>
            <a:r>
              <a:rPr lang="ru-RU" dirty="0"/>
              <a:t>: Для борьбы с переобучением применены слои </a:t>
            </a:r>
            <a:r>
              <a:rPr lang="ru-RU" b="1" dirty="0"/>
              <a:t>Dropout (0.4)</a:t>
            </a:r>
            <a:r>
              <a:rPr lang="ru-RU" dirty="0"/>
              <a:t> и механизм </a:t>
            </a:r>
            <a:r>
              <a:rPr lang="ru-RU" b="1" dirty="0"/>
              <a:t>Weight Decay</a:t>
            </a:r>
            <a:r>
              <a:rPr lang="ru-RU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Аугментация</a:t>
            </a:r>
            <a:r>
              <a:rPr lang="ru-RU" dirty="0"/>
              <a:t>: В процессе обучения к сигналам добавлялся случайный гауссовский шум, что повысило устойчивость модели к помехам освещения.</a:t>
            </a:r>
          </a:p>
        </p:txBody>
      </p:sp>
    </p:spTree>
    <p:extLst>
      <p:ext uri="{BB962C8B-B14F-4D97-AF65-F5344CB8AC3E}">
        <p14:creationId xmlns:p14="http://schemas.microsoft.com/office/powerpoint/2010/main" val="1165036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41E9A20-1089-E7C1-AB67-DC9CA11C4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F7C459EE-128D-8EF4-A42B-831C9A0E08E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F4907C8F-82ED-90CA-C7C2-D40D718253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2100" y="728548"/>
            <a:ext cx="450850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200" b="1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Архитектура</a:t>
            </a:r>
            <a:endParaRPr sz="2200" dirty="0">
              <a:latin typeface="Verdana"/>
              <a:cs typeface="Verdana"/>
            </a:endParaRPr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16958046-49CB-AF63-52AA-9A6EE874F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20119"/>
            <a:ext cx="5791200" cy="1084067"/>
          </a:xfrm>
          <a:prstGeom prst="rect">
            <a:avLst/>
          </a:prstGeom>
        </p:spPr>
      </p:pic>
      <p:pic>
        <p:nvPicPr>
          <p:cNvPr id="10" name="Picture 9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BDC103F9-56BA-C64E-28C3-9E0642FCF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19" y="2719051"/>
            <a:ext cx="3391126" cy="12792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859F22-1EFD-2A8A-F354-3DDC3C8C46BE}"/>
              </a:ext>
            </a:extLst>
          </p:cNvPr>
          <p:cNvSpPr txBox="1"/>
          <p:nvPr/>
        </p:nvSpPr>
        <p:spPr>
          <a:xfrm>
            <a:off x="228600" y="1111768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Запуск сервера, подготовка данных и обучение.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634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5864077-BCB4-FF7A-F6E3-546119F33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A731E2A2-0688-49EF-6200-BDB9FFD49A9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20312E58-7DEF-5BCE-A21A-62B9787417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2100" y="728548"/>
            <a:ext cx="450850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200" b="1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Архитектура</a:t>
            </a:r>
            <a:endParaRPr sz="2200" dirty="0">
              <a:latin typeface="Verdana"/>
              <a:cs typeface="Verdana"/>
            </a:endParaRPr>
          </a:p>
        </p:txBody>
      </p:sp>
      <p:pic>
        <p:nvPicPr>
          <p:cNvPr id="12" name="Picture 11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3BAC66AB-7F7E-1CA4-E5D0-98EDD0FF1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" y="1565312"/>
            <a:ext cx="3733800" cy="28388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EA7003-4F12-2822-8CD6-34744E966C7E}"/>
              </a:ext>
            </a:extLst>
          </p:cNvPr>
          <p:cNvSpPr txBox="1"/>
          <p:nvPr/>
        </p:nvSpPr>
        <p:spPr>
          <a:xfrm>
            <a:off x="292100" y="1126440"/>
            <a:ext cx="633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Запуск сервера, подготовка данных и обучение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536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F7D7852-DBB6-36D1-82D4-6CD9FE4A3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16DA253-AC54-625B-E0B8-171C7CFF5FE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F679E531-98EB-2188-9C10-A5EED6746F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2100" y="728548"/>
            <a:ext cx="450850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200" b="1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Архитектура</a:t>
            </a:r>
            <a:endParaRPr sz="2200" dirty="0">
              <a:latin typeface="Verdana"/>
              <a:cs typeface="Verdan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5C0D77-20C3-B759-05FE-60CB1C2F9250}"/>
              </a:ext>
            </a:extLst>
          </p:cNvPr>
          <p:cNvSpPr txBox="1"/>
          <p:nvPr/>
        </p:nvSpPr>
        <p:spPr>
          <a:xfrm>
            <a:off x="621138" y="1180325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Вместо базовой пространственной SCNN реализована </a:t>
            </a:r>
            <a:r>
              <a:rPr lang="ru-RU" b="1" dirty="0"/>
              <a:t>временная резидуальная сеть</a:t>
            </a:r>
            <a:r>
              <a:rPr lang="ru-RU" dirty="0"/>
              <a:t>:</a:t>
            </a:r>
          </a:p>
          <a:p>
            <a:r>
              <a:rPr lang="ru-RU" b="1" dirty="0"/>
              <a:t>1D-ResNet Blocks:</a:t>
            </a:r>
            <a:r>
              <a:rPr lang="ru-RU" dirty="0"/>
              <a:t> Позволяют извлекать глубокие признаки из формы пульсовой волны, игнорируя краткосрочные помехи.</a:t>
            </a:r>
          </a:p>
          <a:p>
            <a:r>
              <a:rPr lang="ru-RU" b="1" dirty="0"/>
              <a:t>SE-Attention (Squeeze-and-Excitation):</a:t>
            </a:r>
            <a:r>
              <a:rPr lang="ru-RU" dirty="0"/>
              <a:t> Механизм внимания, который автоматически придает больший вес наиболее «чистым» цветовым каналам (преимущественно зеленому спектру).</a:t>
            </a:r>
          </a:p>
          <a:p>
            <a:r>
              <a:rPr lang="ru-RU" b="1" dirty="0"/>
              <a:t>Regression Head:</a:t>
            </a:r>
            <a:r>
              <a:rPr lang="ru-RU" dirty="0"/>
              <a:t> Финальный полносвязный блок, обучаемый минимизировать MAE (Mean Absolute Error) для одновременного предсказания SBP и DBP.</a:t>
            </a:r>
          </a:p>
        </p:txBody>
      </p:sp>
    </p:spTree>
    <p:extLst>
      <p:ext uri="{BB962C8B-B14F-4D97-AF65-F5344CB8AC3E}">
        <p14:creationId xmlns:p14="http://schemas.microsoft.com/office/powerpoint/2010/main" val="2045192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A3FCA1-F58A-16BB-C669-1BB9BF09E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82E92624-1269-2959-2DA6-5B108E8B23F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16A67004-56B3-752A-505B-957B44972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2100" y="728548"/>
            <a:ext cx="450850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200" b="1" u="heavy" dirty="0">
                <a:uFill>
                  <a:solidFill>
                    <a:srgbClr val="000000"/>
                  </a:solidFill>
                </a:uFill>
              </a:rPr>
              <a:t>Инференс</a:t>
            </a:r>
            <a:endParaRPr sz="2200" dirty="0">
              <a:latin typeface="Verdana"/>
              <a:cs typeface="Verdana"/>
            </a:endParaRPr>
          </a:p>
        </p:txBody>
      </p:sp>
      <p:pic>
        <p:nvPicPr>
          <p:cNvPr id="5" name="Picture 4" descr="A hand holding a blood pressure monitor&#10;&#10;AI-generated content may be incorrect.">
            <a:extLst>
              <a:ext uri="{FF2B5EF4-FFF2-40B4-BE49-F238E27FC236}">
                <a16:creationId xmlns:a16="http://schemas.microsoft.com/office/drawing/2014/main" id="{C3759EC6-E026-C768-F095-285E8259A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00150"/>
            <a:ext cx="2833767" cy="3086281"/>
          </a:xfrm>
          <a:prstGeom prst="rect">
            <a:avLst/>
          </a:prstGeom>
        </p:spPr>
      </p:pic>
      <p:pic>
        <p:nvPicPr>
          <p:cNvPr id="7" name="Picture 6" descr="A person in a white shirt&#10;&#10;AI-generated content may be incorrect.">
            <a:extLst>
              <a:ext uri="{FF2B5EF4-FFF2-40B4-BE49-F238E27FC236}">
                <a16:creationId xmlns:a16="http://schemas.microsoft.com/office/drawing/2014/main" id="{AA369AD0-7F7E-DFA1-7563-9336CD88A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9567" y="1200150"/>
            <a:ext cx="2425568" cy="30862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605B26-03D5-5884-4C6F-A799077BB4A6}"/>
              </a:ext>
            </a:extLst>
          </p:cNvPr>
          <p:cNvSpPr txBox="1"/>
          <p:nvPr/>
        </p:nvSpPr>
        <p:spPr>
          <a:xfrm>
            <a:off x="5029200" y="4496833"/>
            <a:ext cx="4636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1F2328"/>
                </a:solidFill>
                <a:effectLst/>
                <a:latin typeface="-apple-system"/>
                <a:hlinkClick r:id="rId5" tooltip="inference_v5.py"/>
              </a:rPr>
              <a:t>inference_v5.py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798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3499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1903284" y="666750"/>
            <a:ext cx="648970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2200" b="1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Артефакты</a:t>
            </a:r>
            <a:endParaRPr sz="2200" dirty="0">
              <a:latin typeface="Verdana"/>
              <a:cs typeface="Verdan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54225" y="3555720"/>
            <a:ext cx="3788040" cy="81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ru-RU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24D406-4D3F-1A59-23AD-FCDD15198403}"/>
              </a:ext>
            </a:extLst>
          </p:cNvPr>
          <p:cNvSpPr txBox="1"/>
          <p:nvPr/>
        </p:nvSpPr>
        <p:spPr>
          <a:xfrm>
            <a:off x="457200" y="1200150"/>
            <a:ext cx="6400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Репозиторий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>
                <a:hlinkClick r:id="rId4"/>
              </a:rPr>
              <a:t>https://github.com/onsiteseq/ML_model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5" tooltip="train_full.py"/>
              </a:rPr>
              <a:t>train_full.py</a:t>
            </a:r>
            <a:r>
              <a:rPr lang="en-US" dirty="0"/>
              <a:t> … </a:t>
            </a:r>
            <a:r>
              <a:rPr lang="en-US" dirty="0">
                <a:hlinkClick r:id="rId6" tooltip="train_full_v5.py"/>
              </a:rPr>
              <a:t>train_full_v5.py</a:t>
            </a:r>
            <a:r>
              <a:rPr lang="en-US" dirty="0"/>
              <a:t> – </a:t>
            </a:r>
            <a:r>
              <a:rPr lang="ru-RU" dirty="0"/>
              <a:t>перебор алгоритмов</a:t>
            </a:r>
            <a:r>
              <a:rPr lang="en-US" dirty="0"/>
              <a:t> </a:t>
            </a:r>
            <a:r>
              <a:rPr lang="ru-RU" dirty="0"/>
              <a:t>обучения.</a:t>
            </a:r>
          </a:p>
          <a:p>
            <a:endParaRPr lang="ru-RU" dirty="0"/>
          </a:p>
          <a:p>
            <a:r>
              <a:rPr lang="en-US" dirty="0"/>
              <a:t>best_rppg_model_v3.pth</a:t>
            </a:r>
            <a:r>
              <a:rPr lang="ru-RU" dirty="0"/>
              <a:t> ... </a:t>
            </a:r>
            <a:r>
              <a:rPr lang="en-US" dirty="0"/>
              <a:t>best_rppg_model_v5.pth</a:t>
            </a:r>
            <a:r>
              <a:rPr lang="ru-RU" dirty="0"/>
              <a:t> – полученные модели,</a:t>
            </a:r>
            <a:endParaRPr lang="en-US" dirty="0"/>
          </a:p>
          <a:p>
            <a:r>
              <a:rPr lang="ru-RU" dirty="0"/>
              <a:t>где </a:t>
            </a:r>
            <a:r>
              <a:rPr lang="en-US" dirty="0"/>
              <a:t>best_rppg_model_v5.pth</a:t>
            </a:r>
            <a:r>
              <a:rPr lang="ru-RU" dirty="0"/>
              <a:t>  - модель с лучшими результатами.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655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309A0D-7699-9C34-C9BF-5C52CA45B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C7E443DB-29F1-20F0-971A-16EF74792D3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-90407" y="-421610"/>
            <a:ext cx="9144000" cy="51435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D38B8040-DBB5-A366-BAEC-15E3776C87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66800" y="361950"/>
            <a:ext cx="648970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2200" b="1" u="heavy" dirty="0">
                <a:uFill>
                  <a:solidFill>
                    <a:srgbClr val="000000"/>
                  </a:solidFill>
                </a:uFill>
              </a:rPr>
              <a:t>Выводы и результаты</a:t>
            </a:r>
            <a:endParaRPr sz="2200" dirty="0">
              <a:latin typeface="Verdana"/>
              <a:cs typeface="Verdan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59FF49-0B39-6A38-DDAA-9AE1CF9BF788}"/>
              </a:ext>
            </a:extLst>
          </p:cNvPr>
          <p:cNvSpPr/>
          <p:nvPr/>
        </p:nvSpPr>
        <p:spPr>
          <a:xfrm>
            <a:off x="2054225" y="3555720"/>
            <a:ext cx="3788040" cy="81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ru-RU" dirty="0">
              <a:effectLst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782549A-7B3C-4A4E-70CB-8F31F216F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895350"/>
            <a:ext cx="49530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8688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0EA877-97C5-7D3B-3E59-B4731B253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2CAC622E-85AC-1EE5-1FCB-DEC14319FC8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-90407" y="-421610"/>
            <a:ext cx="9144000" cy="51435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56D473FF-C288-3EF4-8025-8D1F0E23C6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66800" y="361950"/>
            <a:ext cx="648970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2200" b="1" u="heavy" dirty="0">
                <a:uFill>
                  <a:solidFill>
                    <a:srgbClr val="000000"/>
                  </a:solidFill>
                </a:uFill>
              </a:rPr>
              <a:t>Выводы и результаты</a:t>
            </a:r>
            <a:endParaRPr sz="2200" dirty="0">
              <a:latin typeface="Verdana"/>
              <a:cs typeface="Verdan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FE1C64-836C-C1D1-463B-1E18958D2F49}"/>
              </a:ext>
            </a:extLst>
          </p:cNvPr>
          <p:cNvSpPr/>
          <p:nvPr/>
        </p:nvSpPr>
        <p:spPr>
          <a:xfrm>
            <a:off x="2054225" y="3555720"/>
            <a:ext cx="3788040" cy="81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ru-RU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CD2F90-806F-1666-2ADF-1F71E11F3AD4}"/>
              </a:ext>
            </a:extLst>
          </p:cNvPr>
          <p:cNvSpPr txBox="1"/>
          <p:nvPr/>
        </p:nvSpPr>
        <p:spPr>
          <a:xfrm>
            <a:off x="381000" y="812413"/>
            <a:ext cx="552683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Конкурентоспособность</a:t>
            </a:r>
            <a:r>
              <a:rPr lang="en-US" sz="1400" dirty="0"/>
              <a:t>: </a:t>
            </a:r>
            <a:r>
              <a:rPr lang="ru-RU" sz="1400" dirty="0"/>
              <a:t>Р</a:t>
            </a:r>
            <a:r>
              <a:rPr lang="en-US" sz="1400" dirty="0" err="1"/>
              <a:t>азработанная</a:t>
            </a:r>
            <a:r>
              <a:rPr lang="en-US" sz="1400" dirty="0"/>
              <a:t> </a:t>
            </a:r>
            <a:r>
              <a:rPr lang="en-US" sz="1400" dirty="0" err="1"/>
              <a:t>модель</a:t>
            </a:r>
            <a:r>
              <a:rPr lang="en-US" sz="1400" dirty="0"/>
              <a:t> (v5) </a:t>
            </a:r>
            <a:r>
              <a:rPr lang="en-US" sz="1400" dirty="0" err="1"/>
              <a:t>показывает</a:t>
            </a:r>
            <a:r>
              <a:rPr lang="en-US" sz="1400" dirty="0"/>
              <a:t> </a:t>
            </a:r>
            <a:r>
              <a:rPr lang="en-US" sz="1400" dirty="0" err="1"/>
              <a:t>результаты</a:t>
            </a:r>
            <a:r>
              <a:rPr lang="en-US" sz="1400" dirty="0"/>
              <a:t>, </a:t>
            </a:r>
            <a:r>
              <a:rPr lang="en-US" sz="1400" dirty="0" err="1"/>
              <a:t>практически</a:t>
            </a:r>
            <a:r>
              <a:rPr lang="en-US" sz="1400" dirty="0"/>
              <a:t> </a:t>
            </a:r>
            <a:r>
              <a:rPr lang="en-US" sz="1400" dirty="0" err="1"/>
              <a:t>идентичные</a:t>
            </a:r>
            <a:r>
              <a:rPr lang="en-US" sz="1400" dirty="0"/>
              <a:t> </a:t>
            </a:r>
            <a:r>
              <a:rPr lang="en-US" sz="1400" dirty="0" err="1"/>
              <a:t>признанному</a:t>
            </a:r>
            <a:r>
              <a:rPr lang="en-US" sz="1400" dirty="0"/>
              <a:t> </a:t>
            </a:r>
            <a:r>
              <a:rPr lang="en-US" sz="1400" dirty="0" err="1"/>
              <a:t>стандарту</a:t>
            </a:r>
            <a:r>
              <a:rPr lang="en-US" sz="1400" dirty="0"/>
              <a:t> </a:t>
            </a:r>
            <a:r>
              <a:rPr lang="en-US" sz="1400" dirty="0" err="1"/>
              <a:t>PhysNet</a:t>
            </a:r>
            <a:r>
              <a:rPr lang="en-US" sz="1400" dirty="0"/>
              <a:t> (SBP MAE: 13.56 </a:t>
            </a:r>
            <a:r>
              <a:rPr lang="en-US" sz="1400" dirty="0" err="1"/>
              <a:t>против</a:t>
            </a:r>
            <a:r>
              <a:rPr lang="en-US" sz="1400" dirty="0"/>
              <a:t> 13.54).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 err="1"/>
              <a:t>Точность</a:t>
            </a:r>
            <a:r>
              <a:rPr lang="en-US" sz="1400" dirty="0"/>
              <a:t> DBP: </a:t>
            </a:r>
            <a:r>
              <a:rPr lang="en-US" sz="1400" dirty="0" err="1"/>
              <a:t>Ошибка</a:t>
            </a:r>
            <a:r>
              <a:rPr lang="en-US" sz="1400" dirty="0"/>
              <a:t> в </a:t>
            </a:r>
            <a:r>
              <a:rPr lang="en-US" sz="1400" dirty="0" err="1"/>
              <a:t>предсказании</a:t>
            </a:r>
            <a:r>
              <a:rPr lang="en-US" sz="1400" dirty="0"/>
              <a:t> </a:t>
            </a:r>
            <a:r>
              <a:rPr lang="en-US" sz="1400" dirty="0" err="1"/>
              <a:t>диастолического</a:t>
            </a:r>
            <a:r>
              <a:rPr lang="en-US" sz="1400" dirty="0"/>
              <a:t> </a:t>
            </a:r>
            <a:r>
              <a:rPr lang="en-US" sz="1400" dirty="0" err="1"/>
              <a:t>давления</a:t>
            </a:r>
            <a:r>
              <a:rPr lang="en-US" sz="1400" dirty="0"/>
              <a:t> (7.71 </a:t>
            </a:r>
            <a:r>
              <a:rPr lang="en-US" sz="1400" dirty="0" err="1"/>
              <a:t>мм</a:t>
            </a:r>
            <a:r>
              <a:rPr lang="en-US" sz="1400" dirty="0"/>
              <a:t> </a:t>
            </a:r>
            <a:r>
              <a:rPr lang="en-US" sz="1400" dirty="0" err="1"/>
              <a:t>рт</a:t>
            </a:r>
            <a:r>
              <a:rPr lang="en-US" sz="1400" dirty="0"/>
              <a:t>. </a:t>
            </a:r>
            <a:r>
              <a:rPr lang="en-US" sz="1400" dirty="0" err="1"/>
              <a:t>ст</a:t>
            </a:r>
            <a:r>
              <a:rPr lang="en-US" sz="1400" dirty="0"/>
              <a:t>.) </a:t>
            </a:r>
            <a:r>
              <a:rPr lang="en-US" sz="1400" dirty="0" err="1"/>
              <a:t>вплотную</a:t>
            </a:r>
            <a:r>
              <a:rPr lang="en-US" sz="1400" dirty="0"/>
              <a:t> </a:t>
            </a:r>
            <a:r>
              <a:rPr lang="en-US" sz="1400" dirty="0" err="1"/>
              <a:t>приближается</a:t>
            </a:r>
            <a:r>
              <a:rPr lang="en-US" sz="1400" dirty="0"/>
              <a:t> к </a:t>
            </a:r>
            <a:r>
              <a:rPr lang="en-US" sz="1400" dirty="0" err="1"/>
              <a:t>медицинским</a:t>
            </a:r>
            <a:r>
              <a:rPr lang="en-US" sz="1400" dirty="0"/>
              <a:t> </a:t>
            </a:r>
            <a:r>
              <a:rPr lang="en-US" sz="1400" dirty="0" err="1"/>
              <a:t>стандартам</a:t>
            </a:r>
            <a:r>
              <a:rPr lang="en-US" sz="1400" dirty="0"/>
              <a:t> </a:t>
            </a:r>
            <a:r>
              <a:rPr lang="en-US" sz="1400" dirty="0" err="1"/>
              <a:t>точности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 err="1"/>
              <a:t>Честная</a:t>
            </a:r>
            <a:r>
              <a:rPr lang="en-US" sz="1400" dirty="0"/>
              <a:t> </a:t>
            </a:r>
            <a:r>
              <a:rPr lang="en-US" sz="1400" dirty="0" err="1"/>
              <a:t>оценка</a:t>
            </a:r>
            <a:r>
              <a:rPr lang="en-US" sz="1400" dirty="0"/>
              <a:t>: </a:t>
            </a:r>
            <a:r>
              <a:rPr lang="en-US" sz="1400" dirty="0" err="1"/>
              <a:t>Все</a:t>
            </a:r>
            <a:r>
              <a:rPr lang="en-US" sz="1400" dirty="0"/>
              <a:t> </a:t>
            </a:r>
            <a:r>
              <a:rPr lang="en-US" sz="1400" dirty="0" err="1"/>
              <a:t>результаты</a:t>
            </a:r>
            <a:r>
              <a:rPr lang="en-US" sz="1400" dirty="0"/>
              <a:t> </a:t>
            </a:r>
            <a:r>
              <a:rPr lang="en-US" sz="1400" dirty="0" err="1"/>
              <a:t>получены</a:t>
            </a:r>
            <a:r>
              <a:rPr lang="en-US" sz="1400" dirty="0"/>
              <a:t> с </a:t>
            </a:r>
            <a:r>
              <a:rPr lang="en-US" sz="1400" dirty="0" err="1"/>
              <a:t>использованием</a:t>
            </a:r>
            <a:r>
              <a:rPr lang="en-US" sz="1400" dirty="0"/>
              <a:t> Subject-Independent Split, </a:t>
            </a:r>
            <a:r>
              <a:rPr lang="en-US" sz="1400" dirty="0" err="1"/>
              <a:t>что</a:t>
            </a:r>
            <a:r>
              <a:rPr lang="en-US" sz="1400" dirty="0"/>
              <a:t> </a:t>
            </a:r>
            <a:r>
              <a:rPr lang="en-US" sz="1400" dirty="0" err="1"/>
              <a:t>подтверждает</a:t>
            </a:r>
            <a:r>
              <a:rPr lang="en-US" sz="1400" dirty="0"/>
              <a:t> </a:t>
            </a:r>
            <a:r>
              <a:rPr lang="en-US" sz="1400" dirty="0" err="1"/>
              <a:t>высокую</a:t>
            </a:r>
            <a:r>
              <a:rPr lang="en-US" sz="1400" dirty="0"/>
              <a:t> </a:t>
            </a:r>
            <a:r>
              <a:rPr lang="en-US" sz="1400" dirty="0" err="1"/>
              <a:t>обобщающую</a:t>
            </a:r>
            <a:r>
              <a:rPr lang="en-US" sz="1400" dirty="0"/>
              <a:t> </a:t>
            </a:r>
            <a:r>
              <a:rPr lang="en-US" sz="1400" dirty="0" err="1"/>
              <a:t>способность</a:t>
            </a:r>
            <a:r>
              <a:rPr lang="en-US" sz="1400" dirty="0"/>
              <a:t> </a:t>
            </a:r>
            <a:r>
              <a:rPr lang="en-US" sz="1400" dirty="0" err="1"/>
              <a:t>нейросети</a:t>
            </a:r>
            <a:r>
              <a:rPr lang="en-US" sz="1400" dirty="0"/>
              <a:t> </a:t>
            </a:r>
            <a:r>
              <a:rPr lang="en-US" sz="1400" dirty="0" err="1"/>
              <a:t>на</a:t>
            </a:r>
            <a:r>
              <a:rPr lang="en-US" sz="1400" dirty="0"/>
              <a:t> </a:t>
            </a:r>
            <a:r>
              <a:rPr lang="en-US" sz="1400" dirty="0" err="1"/>
              <a:t>новых</a:t>
            </a:r>
            <a:r>
              <a:rPr lang="en-US" sz="1400" dirty="0"/>
              <a:t> </a:t>
            </a:r>
            <a:r>
              <a:rPr lang="en-US" sz="1400" dirty="0" err="1"/>
              <a:t>пациентах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1051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9D369-CB28-CF37-98F1-FE5167B31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47DC212B-D917-38FE-D35C-E9FE92F515E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-90407" y="-421610"/>
            <a:ext cx="9144000" cy="51435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3B1EAD2D-B48A-AB41-BF86-591FB60A2A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828800" y="421610"/>
            <a:ext cx="648970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2200" b="1" u="heavy" dirty="0">
                <a:uFill>
                  <a:solidFill>
                    <a:srgbClr val="000000"/>
                  </a:solidFill>
                </a:uFill>
              </a:rPr>
              <a:t>Литература</a:t>
            </a:r>
            <a:endParaRPr sz="2200" dirty="0">
              <a:latin typeface="Verdana"/>
              <a:cs typeface="Verdan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085F3B-A615-BA67-AA0D-E2C255C94D04}"/>
              </a:ext>
            </a:extLst>
          </p:cNvPr>
          <p:cNvSpPr/>
          <p:nvPr/>
        </p:nvSpPr>
        <p:spPr>
          <a:xfrm>
            <a:off x="2054225" y="3555720"/>
            <a:ext cx="3788040" cy="81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ru-RU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B8B227-7249-AFE7-3D32-0AEF7B5817BD}"/>
              </a:ext>
            </a:extLst>
          </p:cNvPr>
          <p:cNvSpPr txBox="1"/>
          <p:nvPr/>
        </p:nvSpPr>
        <p:spPr>
          <a:xfrm>
            <a:off x="685800" y="936238"/>
            <a:ext cx="5486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1. Allen J. Photoplethysmography and its application in clinical physiological measurement. </a:t>
            </a:r>
            <a:r>
              <a:rPr lang="en-US" sz="1200" dirty="0" err="1"/>
              <a:t>Physiol</a:t>
            </a:r>
            <a:r>
              <a:rPr lang="en-US" sz="1200" dirty="0"/>
              <a:t> Meas. 2007 Mar;28(3):R1–39. doi:10.1088/0967-3334/28/3/R01.</a:t>
            </a:r>
          </a:p>
          <a:p>
            <a:r>
              <a:rPr lang="en-US" sz="1200" dirty="0"/>
              <a:t>2. </a:t>
            </a:r>
            <a:r>
              <a:rPr lang="en-US" sz="1200" dirty="0" err="1"/>
              <a:t>Verkruysse</a:t>
            </a:r>
            <a:r>
              <a:rPr lang="en-US" sz="1200" dirty="0"/>
              <a:t> W, </a:t>
            </a:r>
            <a:r>
              <a:rPr lang="en-US" sz="1200" dirty="0" err="1"/>
              <a:t>Svaasand</a:t>
            </a:r>
            <a:r>
              <a:rPr lang="en-US" sz="1200" dirty="0"/>
              <a:t> LO, Nelson JS. Remote </a:t>
            </a:r>
            <a:r>
              <a:rPr lang="en-US" sz="1200" dirty="0" err="1"/>
              <a:t>plethysmographic</a:t>
            </a:r>
            <a:r>
              <a:rPr lang="en-US" sz="1200" dirty="0"/>
              <a:t> imaging using ambient light. </a:t>
            </a:r>
            <a:r>
              <a:rPr lang="en-US" sz="1200" dirty="0" err="1"/>
              <a:t>Opt</a:t>
            </a:r>
            <a:r>
              <a:rPr lang="en-US" sz="1200" dirty="0"/>
              <a:t> Express. 2008 Dec 22;16(26):21434–21445. doi:10.1364/OE.16.021434.</a:t>
            </a:r>
          </a:p>
          <a:p>
            <a:r>
              <a:rPr lang="en-US" sz="1200" dirty="0"/>
              <a:t>3. de Haan G, Jeanne V. Robust pulse rate from chrominance-based </a:t>
            </a:r>
            <a:r>
              <a:rPr lang="en-US" sz="1200" dirty="0" err="1"/>
              <a:t>rPPG</a:t>
            </a:r>
            <a:r>
              <a:rPr lang="en-US" sz="1200" dirty="0"/>
              <a:t>. IEEE Trans Biomed Eng. 2013;60(10):2878–2886. doi:10.1109/TBME.2013.2266196.</a:t>
            </a:r>
          </a:p>
          <a:p>
            <a:r>
              <a:rPr lang="en-US" sz="1200" dirty="0"/>
              <a:t>4. Wang W, den Brinker AC, </a:t>
            </a:r>
            <a:r>
              <a:rPr lang="en-US" sz="1200" dirty="0" err="1"/>
              <a:t>Stuijk</a:t>
            </a:r>
            <a:r>
              <a:rPr lang="en-US" sz="1200" dirty="0"/>
              <a:t> S, de Haan G. Algorithmic Principles of Remote PPG. IEEE Trans Biomed Eng. 2017;64(7):1479–1491. doi:10.1109/TBME.2016.2609282.</a:t>
            </a:r>
          </a:p>
          <a:p>
            <a:r>
              <a:rPr lang="en-US" sz="1200" dirty="0"/>
              <a:t>5. Kwon S, Kim H, Park KS. Validation of heart rate extraction using video imaging on a built-in camera system of a smartphone. Proc IEEE EMBS. 2012:2174–2177. doi:10.1109/EMBC.2012.6346392.</a:t>
            </a:r>
          </a:p>
        </p:txBody>
      </p:sp>
    </p:spTree>
    <p:extLst>
      <p:ext uri="{BB962C8B-B14F-4D97-AF65-F5344CB8AC3E}">
        <p14:creationId xmlns:p14="http://schemas.microsoft.com/office/powerpoint/2010/main" val="11921430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3FCE82-352F-2AC8-007D-D9C657B6B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E9E88A60-9816-14C0-D132-6D6B192AD32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-90407" y="-421610"/>
            <a:ext cx="9144000" cy="51435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79A04CF8-1DC9-E2E0-E4C6-563DA9DDE6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828800" y="421610"/>
            <a:ext cx="648970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2200" b="1" u="heavy" dirty="0">
                <a:uFill>
                  <a:solidFill>
                    <a:srgbClr val="000000"/>
                  </a:solidFill>
                </a:uFill>
              </a:rPr>
              <a:t>Литература</a:t>
            </a:r>
            <a:endParaRPr sz="2200" dirty="0">
              <a:latin typeface="Verdana"/>
              <a:cs typeface="Verdan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B9E4D1-8D20-6F81-91D9-862C96F8A040}"/>
              </a:ext>
            </a:extLst>
          </p:cNvPr>
          <p:cNvSpPr/>
          <p:nvPr/>
        </p:nvSpPr>
        <p:spPr>
          <a:xfrm>
            <a:off x="2054225" y="3555720"/>
            <a:ext cx="3788040" cy="81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ru-RU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CD5670-F836-1C82-350A-F670FAF81AFE}"/>
              </a:ext>
            </a:extLst>
          </p:cNvPr>
          <p:cNvSpPr txBox="1"/>
          <p:nvPr/>
        </p:nvSpPr>
        <p:spPr>
          <a:xfrm>
            <a:off x="685800" y="936238"/>
            <a:ext cx="54864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6. Yu Z, Li X, Zhao G. Remote </a:t>
            </a:r>
            <a:r>
              <a:rPr lang="en-US" sz="1200" dirty="0" err="1"/>
              <a:t>photoplethysmograph</a:t>
            </a:r>
            <a:r>
              <a:rPr lang="en-US" sz="1200" dirty="0"/>
              <a:t> signal measurement from facial videos using </a:t>
            </a:r>
            <a:r>
              <a:rPr lang="en-US" sz="1200" dirty="0" err="1"/>
              <a:t>spatio</a:t>
            </a:r>
            <a:r>
              <a:rPr lang="en-US" sz="1200" dirty="0"/>
              <a:t>-temporal networks. BMVC. 2019.</a:t>
            </a:r>
          </a:p>
          <a:p>
            <a:r>
              <a:rPr lang="en-US" sz="1200" dirty="0"/>
              <a:t>7. </a:t>
            </a:r>
            <a:r>
              <a:rPr lang="en-US" sz="1200" dirty="0" err="1"/>
              <a:t>Špetlík</a:t>
            </a:r>
            <a:r>
              <a:rPr lang="en-US" sz="1200" dirty="0"/>
              <a:t> R, Franc J, Matas J. Visual heart rate estimation with convolutional neural network. BMVC. 2018.</a:t>
            </a:r>
          </a:p>
          <a:p>
            <a:r>
              <a:rPr lang="en-US" sz="1200" dirty="0"/>
              <a:t>8. Chen Y, McDuff Y. </a:t>
            </a:r>
            <a:r>
              <a:rPr lang="en-US" sz="1200" dirty="0" err="1"/>
              <a:t>DeepPhys</a:t>
            </a:r>
            <a:r>
              <a:rPr lang="en-US" sz="1200" dirty="0"/>
              <a:t>: Video-based physiological measurement using convolutional attention networks. ECCV. 2018:349–365.</a:t>
            </a:r>
          </a:p>
          <a:p>
            <a:r>
              <a:rPr lang="en-US" sz="1200" dirty="0"/>
              <a:t>9. Niu X, Han H, Shan S, Chen X. Continuous heart rate measurement from face: A robust </a:t>
            </a:r>
            <a:r>
              <a:rPr lang="en-US" sz="1200" dirty="0" err="1"/>
              <a:t>rPPG</a:t>
            </a:r>
            <a:r>
              <a:rPr lang="en-US" sz="1200" dirty="0"/>
              <a:t> approach with distribution learning. Proc IJCB. 2017:642–650. doi:10.1109/BTAS.2017.8272752.</a:t>
            </a:r>
          </a:p>
          <a:p>
            <a:r>
              <a:rPr lang="en-US" sz="1200" dirty="0"/>
              <a:t>10. </a:t>
            </a:r>
            <a:r>
              <a:rPr lang="en-US" sz="1200" dirty="0" err="1"/>
              <a:t>Rouast</a:t>
            </a:r>
            <a:r>
              <a:rPr lang="en-US" sz="1200" dirty="0"/>
              <a:t> M, Adam M, Chiong R. Remote heart rate measurement using low-cost RGB face video: A technical literature review. Front </a:t>
            </a:r>
            <a:r>
              <a:rPr lang="en-US" sz="1200" dirty="0" err="1"/>
              <a:t>Comput</a:t>
            </a:r>
            <a:r>
              <a:rPr lang="en-US" sz="1200" dirty="0"/>
              <a:t> Sci. 2021;3.</a:t>
            </a:r>
          </a:p>
          <a:p>
            <a:r>
              <a:rPr lang="en-US" sz="1200" dirty="0"/>
              <a:t>12. Yegorov K, et al. Gaze into the heart: A multi-camera dataset for remote photoplethysmography and health biomarker estimation. ACM ICMI. 2024.</a:t>
            </a:r>
          </a:p>
        </p:txBody>
      </p:sp>
    </p:spTree>
    <p:extLst>
      <p:ext uri="{BB962C8B-B14F-4D97-AF65-F5344CB8AC3E}">
        <p14:creationId xmlns:p14="http://schemas.microsoft.com/office/powerpoint/2010/main" val="32962839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8245" y="-95250"/>
            <a:ext cx="9144000" cy="51435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2475" y="179661"/>
            <a:ext cx="3563620" cy="118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60"/>
              </a:lnSpc>
              <a:spcBef>
                <a:spcPts val="100"/>
              </a:spcBef>
            </a:pPr>
            <a:r>
              <a:rPr spc="85" dirty="0"/>
              <a:t>Спасибо</a:t>
            </a:r>
          </a:p>
          <a:p>
            <a:pPr marL="12700">
              <a:lnSpc>
                <a:spcPts val="4560"/>
              </a:lnSpc>
            </a:pPr>
            <a:r>
              <a:rPr spc="-30" dirty="0"/>
              <a:t>за</a:t>
            </a:r>
            <a:r>
              <a:rPr spc="-345" dirty="0"/>
              <a:t> </a:t>
            </a:r>
            <a:r>
              <a:rPr spc="-10" dirty="0"/>
              <a:t>внимание!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624" y="157391"/>
            <a:ext cx="2710959" cy="6744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97A7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97A7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97A7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97A7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2875</TotalTime>
  <Words>1156</Words>
  <Application>Microsoft Office PowerPoint</Application>
  <PresentationFormat>On-screen Show (16:9)</PresentationFormat>
  <Paragraphs>100</Paragraphs>
  <Slides>20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-apple-system</vt:lpstr>
      <vt:lpstr>Arial</vt:lpstr>
      <vt:lpstr>Calibri</vt:lpstr>
      <vt:lpstr>Verdana</vt:lpstr>
      <vt:lpstr>Office Theme</vt:lpstr>
      <vt:lpstr>Разработка алгоритма и сенсорной системы для бесконтактной оценки артериального давления</vt:lpstr>
      <vt:lpstr>Команда 6</vt:lpstr>
      <vt:lpstr>Задача. Бесконтактный мониторинг артериального давления</vt:lpstr>
      <vt:lpstr>Задача. Бесконтактный мониторинг артериального давления</vt:lpstr>
      <vt:lpstr>Термины и определения</vt:lpstr>
      <vt:lpstr>Термины и определения</vt:lpstr>
      <vt:lpstr>Термины и определения</vt:lpstr>
      <vt:lpstr>Архитектура</vt:lpstr>
      <vt:lpstr>Архитектура</vt:lpstr>
      <vt:lpstr>Архитектура</vt:lpstr>
      <vt:lpstr>Архитектура</vt:lpstr>
      <vt:lpstr>Архитектура</vt:lpstr>
      <vt:lpstr>Архитектура</vt:lpstr>
      <vt:lpstr>Инференс</vt:lpstr>
      <vt:lpstr>Артефакты</vt:lpstr>
      <vt:lpstr>Выводы и результаты</vt:lpstr>
      <vt:lpstr>Выводы и результаты</vt:lpstr>
      <vt:lpstr>Литература</vt:lpstr>
      <vt:lpstr>Литература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Лекция_1.pptx</dc:title>
  <dc:creator>Roman Gorbenko</dc:creator>
  <cp:lastModifiedBy>Office</cp:lastModifiedBy>
  <cp:revision>109</cp:revision>
  <dcterms:created xsi:type="dcterms:W3CDTF">2025-03-26T06:42:26Z</dcterms:created>
  <dcterms:modified xsi:type="dcterms:W3CDTF">2025-12-24T15:39:41Z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2025-03-26T00:00:00Z</vt:filetime>
  </property>
</Properties>
</file>